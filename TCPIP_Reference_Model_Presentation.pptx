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560320"/>
            <a:ext cx="108173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121E31"/>
                </a:solidFill>
                <a:latin typeface="Arial"/>
              </a:defRPr>
            </a:pPr>
            <a:r>
              <a:t>The TCP/IP Reference Model</a:t>
            </a:r>
          </a:p>
          <a:p>
            <a:pPr>
              <a:spcBef>
                <a:spcPts val="1400"/>
              </a:spcBef>
              <a:defRPr sz="2400">
                <a:solidFill>
                  <a:srgbClr val="2980B9"/>
                </a:solidFill>
                <a:latin typeface="Arial"/>
              </a:defRPr>
            </a:pPr>
            <a:r>
              <a:t>Architecture, Layered Functionality, and Internet Protocols</a:t>
            </a:r>
          </a:p>
          <a:p>
            <a:pPr>
              <a:spcBef>
                <a:spcPts val="4800"/>
              </a:spcBef>
              <a:defRPr sz="1600">
                <a:solidFill>
                  <a:srgbClr val="7F8C8D"/>
                </a:solidFill>
                <a:latin typeface="Arial"/>
              </a:defRPr>
            </a:pPr>
            <a:r>
              <a:t>Computer Networks Course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21E31"/>
                </a:solidFill>
                <a:latin typeface="Arial"/>
              </a:defRPr>
            </a:pPr>
            <a:r>
              <a:t>Introduction &amp; 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sz="1800" b="1">
                <a:solidFill>
                  <a:srgbClr val="2980B9"/>
                </a:solidFill>
                <a:latin typeface="Arial"/>
              </a:rPr>
              <a:t>•  Origin &amp; Development: </a:t>
            </a:r>
            <a:r>
              <a:rPr sz="1800">
                <a:solidFill>
                  <a:srgbClr val="2C3E50"/>
                </a:solidFill>
                <a:latin typeface="Arial"/>
              </a:rPr>
              <a:t>Created in the 1970s by the US Department of Defense (DoD) Advanced Research Projects Agency (ARPA) specifically for the foundational ARPANET infrastructure.</a:t>
            </a:r>
          </a:p>
          <a:p>
            <a:pPr>
              <a:spcAft>
                <a:spcPts val="2000"/>
              </a:spcAft>
            </a:pPr>
            <a:r>
              <a:rPr sz="1800" b="1">
                <a:solidFill>
                  <a:srgbClr val="2980B9"/>
                </a:solidFill>
                <a:latin typeface="Arial"/>
              </a:rPr>
              <a:t>•  Design Philosophy: </a:t>
            </a:r>
            <a:r>
              <a:rPr sz="1800">
                <a:solidFill>
                  <a:srgbClr val="2C3E50"/>
                </a:solidFill>
                <a:latin typeface="Arial"/>
              </a:rPr>
              <a:t>Engineered explicitly for a heterogeneous network environment, prioritizing robust fault tolerance and highly reliable packet-switching capabilities above all else.</a:t>
            </a:r>
          </a:p>
          <a:p>
            <a:pPr>
              <a:spcAft>
                <a:spcPts val="2000"/>
              </a:spcAft>
            </a:pPr>
            <a:r>
              <a:rPr sz="1800" b="1">
                <a:solidFill>
                  <a:srgbClr val="2980B9"/>
                </a:solidFill>
                <a:latin typeface="Arial"/>
              </a:rPr>
              <a:t>•  Core Framework: </a:t>
            </a:r>
            <a:r>
              <a:rPr sz="1800">
                <a:solidFill>
                  <a:srgbClr val="2C3E50"/>
                </a:solidFill>
                <a:latin typeface="Arial"/>
              </a:rPr>
              <a:t>Serves as a deeply practical, implementation-driven architecture that establishes the fundamental ground rules for modern worldwide internet communications.</a:t>
            </a:r>
          </a:p>
          <a:p>
            <a:pPr>
              <a:spcAft>
                <a:spcPts val="2000"/>
              </a:spcAft>
            </a:pPr>
            <a:r>
              <a:rPr sz="1800" b="1">
                <a:solidFill>
                  <a:srgbClr val="2980B9"/>
                </a:solidFill>
                <a:latin typeface="Arial"/>
              </a:rPr>
              <a:t>•  Foundational Protocol Namesake: </a:t>
            </a:r>
            <a:r>
              <a:rPr sz="1800">
                <a:solidFill>
                  <a:srgbClr val="2C3E50"/>
                </a:solidFill>
                <a:latin typeface="Arial"/>
              </a:rPr>
              <a:t>Directly named after its two most vital and distinct foundational engine layers: Transmission Control Protocol (TCP) and Internet Protocol (IP).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21E31"/>
                </a:solidFill>
                <a:latin typeface="Arial"/>
              </a:defRPr>
            </a:pPr>
            <a:r>
              <a:t>Overview of the 4-Layer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2980B9"/>
                </a:solidFill>
                <a:latin typeface="Arial"/>
              </a:defRPr>
            </a:pPr>
            <a:r>
              <a:t>Streamlined Structure</a:t>
            </a:r>
          </a:p>
          <a:p>
            <a:pPr>
              <a:defRPr sz="1800">
                <a:solidFill>
                  <a:srgbClr val="2C3E50"/>
                </a:solidFill>
                <a:latin typeface="Arial"/>
              </a:defRPr>
            </a:pPr>
            <a:r>
              <a:t>Unlike theoretical designs, the TCP/IP framework condenses network operations down into exactly four operational zones.</a:t>
            </a:r>
            <a:br/>
            <a:br/>
            <a:r>
              <a:t>Data seamlessly encapsulates passing downwards from the human interface layer straight down onto raw physical transmission pathways.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0" y="1828800"/>
            <a:ext cx="5486400" cy="914400"/>
          </a:xfrm>
          <a:prstGeom prst="rect">
            <a:avLst/>
          </a:prstGeom>
          <a:solidFill>
            <a:srgbClr val="2980B9"/>
          </a:solidFill>
          <a:ln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Application Layer</a:t>
            </a:r>
          </a:p>
          <a:p>
            <a:pPr algn="ctr">
              <a:defRPr sz="1200">
                <a:solidFill>
                  <a:srgbClr val="F0F0F0"/>
                </a:solidFill>
                <a:latin typeface="Arial"/>
              </a:defRPr>
            </a:pPr>
            <a:r>
              <a:t>Interfaces with software processes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0" y="2926080"/>
            <a:ext cx="5486400" cy="914400"/>
          </a:xfrm>
          <a:prstGeom prst="rect">
            <a:avLst/>
          </a:prstGeom>
          <a:solidFill>
            <a:srgbClr val="3498DB"/>
          </a:solidFill>
          <a:ln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Transport Layer</a:t>
            </a:r>
          </a:p>
          <a:p>
            <a:pPr algn="ctr">
              <a:defRPr sz="1200">
                <a:solidFill>
                  <a:srgbClr val="F0F0F0"/>
                </a:solidFill>
                <a:latin typeface="Arial"/>
              </a:defRPr>
            </a:pPr>
            <a:r>
              <a:t>Manages host-to-host end delivery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4023360"/>
            <a:ext cx="5486400" cy="914400"/>
          </a:xfrm>
          <a:prstGeom prst="rect">
            <a:avLst/>
          </a:prstGeom>
          <a:solidFill>
            <a:srgbClr val="27AE60"/>
          </a:solidFill>
          <a:ln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Internet Layer</a:t>
            </a:r>
          </a:p>
          <a:p>
            <a:pPr algn="ctr">
              <a:defRPr sz="1200">
                <a:solidFill>
                  <a:srgbClr val="F0F0F0"/>
                </a:solidFill>
                <a:latin typeface="Arial"/>
              </a:defRPr>
            </a:pPr>
            <a:r>
              <a:t>Handles logical routing &amp; packets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5120640"/>
            <a:ext cx="5486400" cy="914400"/>
          </a:xfrm>
          <a:prstGeom prst="rect">
            <a:avLst/>
          </a:prstGeom>
          <a:solidFill>
            <a:srgbClr val="2ECC71"/>
          </a:solidFill>
          <a:ln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Network Access Layer</a:t>
            </a:r>
          </a:p>
          <a:p>
            <a:pPr algn="ctr">
              <a:defRPr sz="1200">
                <a:solidFill>
                  <a:srgbClr val="F0F0F0"/>
                </a:solidFill>
                <a:latin typeface="Arial"/>
              </a:defRPr>
            </a:pPr>
            <a:r>
              <a:t>Handles raw physical hardware bits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21E31"/>
                </a:solidFill>
                <a:latin typeface="Arial"/>
              </a:defRPr>
            </a:pPr>
            <a:r>
              <a:t>Layer 1: Network Access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sz="1800" b="1">
                <a:solidFill>
                  <a:srgbClr val="2980B9"/>
                </a:solidFill>
                <a:latin typeface="Arial"/>
              </a:rPr>
              <a:t>•  Primary Core Function: </a:t>
            </a:r>
            <a:r>
              <a:rPr sz="1800">
                <a:solidFill>
                  <a:srgbClr val="2C3E50"/>
                </a:solidFill>
                <a:latin typeface="Arial"/>
              </a:rPr>
              <a:t>Forms the absolute lowest base layer; manages direct physical transmission of raw data bits over underlying hardware mediums.</a:t>
            </a:r>
          </a:p>
          <a:p>
            <a:pPr>
              <a:spcAft>
                <a:spcPts val="2000"/>
              </a:spcAft>
            </a:pPr>
            <a:r>
              <a:rPr sz="1800" b="1">
                <a:solidFill>
                  <a:srgbClr val="2980B9"/>
                </a:solidFill>
                <a:latin typeface="Arial"/>
              </a:rPr>
              <a:t>•  Hardware MAC Mapping: </a:t>
            </a:r>
            <a:r>
              <a:rPr sz="1800">
                <a:solidFill>
                  <a:srgbClr val="2C3E50"/>
                </a:solidFill>
                <a:latin typeface="Arial"/>
              </a:rPr>
              <a:t>Responsible for translating structural high-level logical IP addresses directly into low-level physical machine MAC addresses.</a:t>
            </a:r>
          </a:p>
          <a:p>
            <a:pPr>
              <a:spcAft>
                <a:spcPts val="2000"/>
              </a:spcAft>
            </a:pPr>
            <a:r>
              <a:rPr sz="1800" b="1">
                <a:solidFill>
                  <a:srgbClr val="2980B9"/>
                </a:solidFill>
                <a:latin typeface="Arial"/>
              </a:rPr>
              <a:t>•  Framing Construction: </a:t>
            </a:r>
            <a:r>
              <a:rPr sz="1800">
                <a:solidFill>
                  <a:srgbClr val="2C3E50"/>
                </a:solidFill>
                <a:latin typeface="Arial"/>
              </a:rPr>
              <a:t>Encapsulates received network packets into formal physical Frames designed cleanly for localized infrastructure hardware travel.</a:t>
            </a:r>
          </a:p>
          <a:p>
            <a:pPr>
              <a:spcAft>
                <a:spcPts val="2000"/>
              </a:spcAft>
            </a:pPr>
            <a:r>
              <a:rPr sz="1800" b="1">
                <a:solidFill>
                  <a:srgbClr val="2980B9"/>
                </a:solidFill>
                <a:latin typeface="Arial"/>
              </a:rPr>
              <a:t>•  Protocols &amp; Hardware Standards: </a:t>
            </a:r>
            <a:r>
              <a:rPr sz="1800">
                <a:solidFill>
                  <a:srgbClr val="2C3E50"/>
                </a:solidFill>
                <a:latin typeface="Arial"/>
              </a:rPr>
              <a:t>Mainly includes physical standard setups like Ethernet, Wi-Fi (802.11 standards), ARP (Address Resolution Protocol), and Network Interface Cards.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21E31"/>
                </a:solidFill>
                <a:latin typeface="Arial"/>
              </a:defRPr>
            </a:pPr>
            <a:r>
              <a:t>Layer 2: Internet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sz="1800" b="1">
                <a:solidFill>
                  <a:srgbClr val="2980B9"/>
                </a:solidFill>
                <a:latin typeface="Arial"/>
              </a:rPr>
              <a:t>•  Core Routing Focus: </a:t>
            </a:r>
            <a:r>
              <a:rPr sz="1800">
                <a:solidFill>
                  <a:srgbClr val="2C3E50"/>
                </a:solidFill>
                <a:latin typeface="Arial"/>
              </a:rPr>
              <a:t>Directly handles host-to-host network targeting, data packaging tracking, and the intelligent routing of discrete data packets across separate grids.</a:t>
            </a:r>
          </a:p>
          <a:p>
            <a:pPr>
              <a:spcAft>
                <a:spcPts val="2000"/>
              </a:spcAft>
            </a:pPr>
            <a:r>
              <a:rPr sz="1800" b="1">
                <a:solidFill>
                  <a:srgbClr val="2980B9"/>
                </a:solidFill>
                <a:latin typeface="Arial"/>
              </a:rPr>
              <a:t>•  Connectionless Delivery Design: </a:t>
            </a:r>
            <a:r>
              <a:rPr sz="1800">
                <a:solidFill>
                  <a:srgbClr val="2C3E50"/>
                </a:solidFill>
                <a:latin typeface="Arial"/>
              </a:rPr>
              <a:t>Packets travel entirely independently across the infrastructure topology, dynamically shifting routes based on modern live network congestion states.</a:t>
            </a:r>
          </a:p>
          <a:p>
            <a:pPr>
              <a:spcAft>
                <a:spcPts val="2000"/>
              </a:spcAft>
            </a:pPr>
            <a:r>
              <a:rPr sz="1800" b="1">
                <a:solidFill>
                  <a:srgbClr val="2980B9"/>
                </a:solidFill>
                <a:latin typeface="Arial"/>
              </a:rPr>
              <a:t>•  Logical Global Addressing: </a:t>
            </a:r>
            <a:r>
              <a:rPr sz="1800">
                <a:solidFill>
                  <a:srgbClr val="2C3E50"/>
                </a:solidFill>
                <a:latin typeface="Arial"/>
              </a:rPr>
              <a:t>Establishes unified network identification mappings globally using structured standard systems like IPv4 and IPv6 protocols.</a:t>
            </a:r>
          </a:p>
          <a:p>
            <a:pPr>
              <a:spcAft>
                <a:spcPts val="2000"/>
              </a:spcAft>
            </a:pPr>
            <a:r>
              <a:rPr sz="1800" b="1">
                <a:solidFill>
                  <a:srgbClr val="2980B9"/>
                </a:solidFill>
                <a:latin typeface="Arial"/>
              </a:rPr>
              <a:t>•  Primary Protocol Suite: </a:t>
            </a:r>
            <a:r>
              <a:rPr sz="1800">
                <a:solidFill>
                  <a:srgbClr val="2C3E50"/>
                </a:solidFill>
                <a:latin typeface="Arial"/>
              </a:rPr>
              <a:t>Relies strictly upon core engine operations driven by Internet Protocol (IP), ICMP diagnostic systems, and specialized IGMP group standards.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21E31"/>
                </a:solidFill>
                <a:latin typeface="Arial"/>
              </a:defRPr>
            </a:pPr>
            <a:r>
              <a:t>Layer 3: Transport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Provides end-to-end communication channels directly linking separate software instances via logical Port Numbers.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2980B9"/>
                </a:solidFill>
              </a:rPr>
              <a:t>•  TCP (Transmission Control Protocol): </a:t>
            </a:r>
            <a:r>
              <a:rPr sz="1800">
                <a:solidFill>
                  <a:srgbClr val="2C3E50"/>
                </a:solidFill>
              </a:rPr>
              <a:t>Strictly connection-oriented and dependable. Guarantees perfect in-order byte stream delivery utilizing robust sequence check verifications, direct acknowledgments, and traffic window flow pacing control systems.</a:t>
            </a:r>
          </a:p>
          <a:p>
            <a:r>
              <a:rPr b="1" sz="1800">
                <a:solidFill>
                  <a:srgbClr val="2980B9"/>
                </a:solidFill>
              </a:rPr>
              <a:t>•  UDP (User Datagram Protocol): </a:t>
            </a:r>
            <a:r>
              <a:rPr sz="1800">
                <a:solidFill>
                  <a:srgbClr val="2C3E50"/>
                </a:solidFill>
              </a:rPr>
              <a:t>Completely connectionless and optimized for high velocity. Strips down complex state tracking mechanics entirely to run ultra-lean; ideal for live voice video streams or fast lookup systems like DNS queries.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21E31"/>
                </a:solidFill>
                <a:latin typeface="Arial"/>
              </a:defRPr>
            </a:pPr>
            <a:r>
              <a:t>Layer 4: Application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sz="1800" b="1">
                <a:solidFill>
                  <a:srgbClr val="2980B9"/>
                </a:solidFill>
                <a:latin typeface="Arial"/>
              </a:rPr>
              <a:t>•  User Interface Gateway: </a:t>
            </a:r>
            <a:r>
              <a:rPr sz="1800">
                <a:solidFill>
                  <a:srgbClr val="2C3E50"/>
                </a:solidFill>
                <a:latin typeface="Arial"/>
              </a:rPr>
              <a:t>The top-tier level interfacing directly with high-level network application applications and modern user web processes.</a:t>
            </a:r>
          </a:p>
          <a:p>
            <a:pPr>
              <a:spcAft>
                <a:spcPts val="2000"/>
              </a:spcAft>
            </a:pPr>
            <a:r>
              <a:rPr sz="1800" b="1">
                <a:solidFill>
                  <a:srgbClr val="2980B9"/>
                </a:solidFill>
                <a:latin typeface="Arial"/>
              </a:rPr>
              <a:t>•  OSI Compression Concept: </a:t>
            </a:r>
            <a:r>
              <a:rPr sz="1800">
                <a:solidFill>
                  <a:srgbClr val="2C3E50"/>
                </a:solidFill>
                <a:latin typeface="Arial"/>
              </a:rPr>
              <a:t>Concisely condenses separate duties split across OSI's top three structural boundaries (Application, Presentation, Session) into one operational zone.</a:t>
            </a:r>
          </a:p>
          <a:p>
            <a:pPr>
              <a:spcAft>
                <a:spcPts val="2000"/>
              </a:spcAft>
            </a:pPr>
            <a:r>
              <a:rPr sz="1800" b="1">
                <a:solidFill>
                  <a:srgbClr val="2980B9"/>
                </a:solidFill>
                <a:latin typeface="Arial"/>
              </a:rPr>
              <a:t>•  Everyday Core Web Protocols: </a:t>
            </a:r>
            <a:r>
              <a:rPr sz="1800">
                <a:solidFill>
                  <a:srgbClr val="2C3E50"/>
                </a:solidFill>
                <a:latin typeface="Arial"/>
              </a:rPr>
              <a:t>Operates key standard architectures including HTTP/HTTPS for standard browsing tasks, alongside FTP setups for direct file transfers.</a:t>
            </a:r>
          </a:p>
          <a:p>
            <a:pPr>
              <a:spcAft>
                <a:spcPts val="2000"/>
              </a:spcAft>
            </a:pPr>
            <a:r>
              <a:rPr sz="1800" b="1">
                <a:solidFill>
                  <a:srgbClr val="2980B9"/>
                </a:solidFill>
                <a:latin typeface="Arial"/>
              </a:rPr>
              <a:t>•  Support Utilities Suite: </a:t>
            </a:r>
            <a:r>
              <a:rPr sz="1800">
                <a:solidFill>
                  <a:srgbClr val="2C3E50"/>
                </a:solidFill>
                <a:latin typeface="Arial"/>
              </a:rPr>
              <a:t>Powers foundational support systems such as SMTP/IMAP configurations for mail management, and DNS engines for web domain naming resolutions.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21E31"/>
                </a:solidFill>
                <a:latin typeface="Arial"/>
              </a:defRPr>
            </a:pPr>
            <a:r>
              <a:t>The Encapsulation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C3E50"/>
                </a:solidFill>
                <a:latin typeface="Arial"/>
              </a:defRPr>
            </a:pPr>
            <a:r>
              <a:t>As structural application messages travel downward through the stack layout, each layer adds its own distinct protocol headers before transferring content to physical mediums.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3291840"/>
            <a:ext cx="2468880" cy="2011680"/>
          </a:xfrm>
          <a:prstGeom prst="rect">
            <a:avLst/>
          </a:prstGeom>
          <a:solidFill>
            <a:srgbClr val="8E44AD"/>
          </a:solidFill>
          <a:ln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Application Layer</a:t>
            </a:r>
          </a:p>
          <a:p>
            <a:pPr algn="ctr">
              <a:defRPr sz="1300">
                <a:solidFill>
                  <a:srgbClr val="F5F5F5"/>
                </a:solidFill>
                <a:latin typeface="Arial"/>
              </a:defRPr>
            </a:pPr>
            <a:br/>
            <a:r>
              <a:t>Data Form:</a:t>
            </a:r>
            <a:br/>
            <a:r>
              <a:t>Raw Data / Message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3429000" y="3291840"/>
            <a:ext cx="2468880" cy="2011680"/>
          </a:xfrm>
          <a:prstGeom prst="rect">
            <a:avLst/>
          </a:prstGeom>
          <a:solidFill>
            <a:srgbClr val="2980B9"/>
          </a:solidFill>
          <a:ln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Transport Layer</a:t>
            </a:r>
          </a:p>
          <a:p>
            <a:pPr algn="ctr">
              <a:defRPr sz="1300">
                <a:solidFill>
                  <a:srgbClr val="F5F5F5"/>
                </a:solidFill>
                <a:latin typeface="Arial"/>
              </a:defRPr>
            </a:pPr>
            <a:br/>
            <a:r>
              <a:t>Data Form:</a:t>
            </a:r>
            <a:br/>
            <a:r>
              <a:t>Segment [TCP Header + Data]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3291840"/>
            <a:ext cx="2468880" cy="2011680"/>
          </a:xfrm>
          <a:prstGeom prst="rect">
            <a:avLst/>
          </a:prstGeom>
          <a:solidFill>
            <a:srgbClr val="27AE60"/>
          </a:solidFill>
          <a:ln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Internet Layer</a:t>
            </a:r>
          </a:p>
          <a:p>
            <a:pPr algn="ctr">
              <a:defRPr sz="1300">
                <a:solidFill>
                  <a:srgbClr val="F5F5F5"/>
                </a:solidFill>
                <a:latin typeface="Arial"/>
              </a:defRPr>
            </a:pPr>
            <a:br/>
            <a:r>
              <a:t>Data Form:</a:t>
            </a:r>
            <a:br/>
            <a:r>
              <a:t>Packet [IP Header + Segment]</a:t>
            </a:r>
          </a:p>
        </p:txBody>
      </p:sp>
      <p:sp>
        <p:nvSpPr>
          <p:cNvPr id="7" name="Rectangle 6"/>
          <p:cNvSpPr/>
          <p:nvPr/>
        </p:nvSpPr>
        <p:spPr>
          <a:xfrm>
            <a:off x="8915400" y="3291840"/>
            <a:ext cx="2468880" cy="2011680"/>
          </a:xfrm>
          <a:prstGeom prst="rect">
            <a:avLst/>
          </a:prstGeom>
          <a:solidFill>
            <a:srgbClr val="E67E22"/>
          </a:solidFill>
          <a:ln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Network Access Layer</a:t>
            </a:r>
          </a:p>
          <a:p>
            <a:pPr algn="ctr">
              <a:defRPr sz="1300">
                <a:solidFill>
                  <a:srgbClr val="F5F5F5"/>
                </a:solidFill>
                <a:latin typeface="Arial"/>
              </a:defRPr>
            </a:pPr>
            <a:br/>
            <a:r>
              <a:t>Data Form:</a:t>
            </a:r>
            <a:br/>
            <a:r>
              <a:t>Frame [Frame Header + Packet + Trailer]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21E31"/>
                </a:solidFill>
                <a:latin typeface="Arial"/>
              </a:defRPr>
            </a:pPr>
            <a:r>
              <a:t>Comparative Analysis: TCP/IP vs. OSI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828800"/>
          <a:ext cx="1081735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114800"/>
                <a:gridCol w="4142232"/>
              </a:tblGrid>
              <a:tr h="82296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Feature / Attribute</a:t>
                      </a:r>
                    </a:p>
                  </a:txBody>
                  <a:tcPr>
                    <a:solidFill>
                      <a:srgbClr val="12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TCP/IP Reference Model</a:t>
                      </a:r>
                    </a:p>
                  </a:txBody>
                  <a:tcPr>
                    <a:solidFill>
                      <a:srgbClr val="12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OSI Reference Model</a:t>
                      </a:r>
                    </a:p>
                  </a:txBody>
                  <a:tcPr>
                    <a:solidFill>
                      <a:srgbClr val="121E3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Total Layers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4 Functional Layers (Modern updates view as 5)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7 Strict Theoretical Layers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Development Approach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Highly practical, implementation-first philosophy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Strictly theoretical conceptual specification design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Real-world Status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The structural backbone of the modern public internet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Rarely deployed fully in commercial frameworks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Layer Organization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Concisely combines top three domains into Application space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Splits operations explicitly across Application, Presentation, Session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21E31"/>
                </a:solidFill>
                <a:latin typeface="Arial"/>
              </a:defRPr>
            </a:pPr>
            <a:r>
              <a:t>Summary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sz="1800" b="1">
                <a:solidFill>
                  <a:srgbClr val="2980B9"/>
                </a:solidFill>
                <a:latin typeface="Arial"/>
              </a:rPr>
              <a:t>•  Practical Structural Core: </a:t>
            </a:r>
            <a:r>
              <a:rPr sz="1800">
                <a:solidFill>
                  <a:srgbClr val="2C3E50"/>
                </a:solidFill>
                <a:latin typeface="Arial"/>
              </a:rPr>
              <a:t>The TCP/IP design stands tall as a battle-tested, highly streamlined architecture engineered perfectly for real-world global deployment scenarios.</a:t>
            </a:r>
          </a:p>
          <a:p>
            <a:pPr>
              <a:spcAft>
                <a:spcPts val="2000"/>
              </a:spcAft>
            </a:pPr>
            <a:r>
              <a:rPr sz="1800" b="1">
                <a:solidFill>
                  <a:srgbClr val="2980B9"/>
                </a:solidFill>
                <a:latin typeface="Arial"/>
              </a:rPr>
              <a:t>•  Inherent Operational Strengths: </a:t>
            </a:r>
            <a:r>
              <a:rPr sz="1800">
                <a:solidFill>
                  <a:srgbClr val="2C3E50"/>
                </a:solidFill>
                <a:latin typeface="Arial"/>
              </a:rPr>
              <a:t>Maintains dynamic hardware interoperability, highly scalable logical addressing schemes, and exceptionally lean operational overhead across the stack.</a:t>
            </a:r>
          </a:p>
          <a:p>
            <a:pPr>
              <a:spcAft>
                <a:spcPts val="2000"/>
              </a:spcAft>
            </a:pPr>
            <a:r>
              <a:rPr sz="1800" b="1">
                <a:solidFill>
                  <a:srgbClr val="2980B9"/>
                </a:solidFill>
                <a:latin typeface="Arial"/>
              </a:rPr>
              <a:t>•  Industry Legacy &amp; Dominance: </a:t>
            </a:r>
            <a:r>
              <a:rPr sz="1800">
                <a:solidFill>
                  <a:srgbClr val="2C3E50"/>
                </a:solidFill>
                <a:latin typeface="Arial"/>
              </a:rPr>
              <a:t>While the 7-layer OSI standard remains a fantastic theoretical learning blueprint, TCP/IP represents the live production architecture powering global communication networks.</a:t>
            </a:r>
          </a:p>
          <a:p>
            <a:pPr>
              <a:spcAft>
                <a:spcPts val="2000"/>
              </a:spcAft>
            </a:pPr>
            <a:r>
              <a:rPr sz="1800" b="1">
                <a:solidFill>
                  <a:srgbClr val="2980B9"/>
                </a:solidFill>
                <a:latin typeface="Arial"/>
              </a:rPr>
              <a:t>•  Questions &amp; Open Discussion: </a:t>
            </a:r>
            <a:r>
              <a:rPr sz="1800">
                <a:solidFill>
                  <a:srgbClr val="2C3E50"/>
                </a:solidFill>
                <a:latin typeface="Arial"/>
              </a:rPr>
              <a:t>Thank you for your attention! Please feel free to raise any questions or request further protocol details.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